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9" r:id="rId7"/>
    <p:sldId id="270" r:id="rId8"/>
    <p:sldId id="268" r:id="rId9"/>
    <p:sldId id="267" r:id="rId10"/>
    <p:sldId id="275" r:id="rId11"/>
    <p:sldId id="274" r:id="rId12"/>
    <p:sldId id="271" r:id="rId13"/>
    <p:sldId id="272" r:id="rId14"/>
    <p:sldId id="273" r:id="rId15"/>
    <p:sldId id="263" r:id="rId16"/>
    <p:sldId id="264" r:id="rId17"/>
    <p:sldId id="266" r:id="rId18"/>
  </p:sldIdLst>
  <p:sldSz cx="18288000" cy="10287000"/>
  <p:notesSz cx="6858000" cy="9144000"/>
  <p:embeddedFontLst>
    <p:embeddedFont>
      <p:font typeface="Montserrat Bold" panose="020B0604020202020204" charset="0"/>
      <p:regular r:id="rId19"/>
    </p:embeddedFont>
    <p:embeddedFont>
      <p:font typeface="Montserrat Light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-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6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288351" y="-696459"/>
            <a:ext cx="4309648" cy="5486820"/>
          </a:xfrm>
          <a:custGeom>
            <a:avLst/>
            <a:gdLst/>
            <a:ahLst/>
            <a:cxnLst/>
            <a:rect l="l" t="t" r="r" b="b"/>
            <a:pathLst>
              <a:path w="4309648" h="5486820">
                <a:moveTo>
                  <a:pt x="0" y="5486821"/>
                </a:moveTo>
                <a:lnTo>
                  <a:pt x="4309648" y="5486821"/>
                </a:lnTo>
                <a:lnTo>
                  <a:pt x="4309648" y="0"/>
                </a:lnTo>
                <a:lnTo>
                  <a:pt x="0" y="0"/>
                </a:lnTo>
                <a:lnTo>
                  <a:pt x="0" y="548682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187047" y="5356615"/>
            <a:ext cx="9075816" cy="907581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33F63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54519" y="5624087"/>
            <a:ext cx="8540871" cy="854087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16666" r="-1666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1060374" y="458014"/>
            <a:ext cx="9075816" cy="90758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33F63"/>
            </a:solidFill>
          </p:spPr>
        </p:sp>
      </p:grpSp>
      <p:sp>
        <p:nvSpPr>
          <p:cNvPr id="9" name="Freeform 9"/>
          <p:cNvSpPr/>
          <p:nvPr/>
        </p:nvSpPr>
        <p:spPr>
          <a:xfrm flipH="1">
            <a:off x="11835653" y="2046952"/>
            <a:ext cx="6854420" cy="8726692"/>
          </a:xfrm>
          <a:custGeom>
            <a:avLst/>
            <a:gdLst/>
            <a:ahLst/>
            <a:cxnLst/>
            <a:rect l="l" t="t" r="r" b="b"/>
            <a:pathLst>
              <a:path w="6854420" h="8726692">
                <a:moveTo>
                  <a:pt x="6854420" y="0"/>
                </a:moveTo>
                <a:lnTo>
                  <a:pt x="0" y="0"/>
                </a:lnTo>
                <a:lnTo>
                  <a:pt x="0" y="8726692"/>
                </a:lnTo>
                <a:lnTo>
                  <a:pt x="6854420" y="8726692"/>
                </a:lnTo>
                <a:lnTo>
                  <a:pt x="68544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327847" y="725487"/>
            <a:ext cx="8540871" cy="854087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5"/>
              <a:stretch>
                <a:fillRect t="-12500" b="-12500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116650" y="8649333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65183" y="3167247"/>
            <a:ext cx="8868252" cy="249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EMPLOYEE ATTRITION PREDICTION PROCESS &amp; MODELING APPROACH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5183" y="6258621"/>
            <a:ext cx="8115300" cy="30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en-US" sz="3200" b="1" spc="473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PREPARED BY RAJKAMAL 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883743"/>
            <a:ext cx="7693527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ABSTRACT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417277"/>
            <a:ext cx="9486640" cy="498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This project analyzes employee attrition using supervised machine learning. The goal was not only to predict attrition but to understand the driving factors behind it. Logistic Regression &amp; Random Forest was tested. Logistic Regression was selected for the final model due to its interpretability, allowing feature-level insight into risk contributors.</a:t>
            </a:r>
          </a:p>
        </p:txBody>
      </p:sp>
      <p:sp>
        <p:nvSpPr>
          <p:cNvPr id="4" name="Freeform 4"/>
          <p:cNvSpPr/>
          <p:nvPr/>
        </p:nvSpPr>
        <p:spPr>
          <a:xfrm flipV="1">
            <a:off x="-827410" y="-273202"/>
            <a:ext cx="3119033" cy="3970991"/>
          </a:xfrm>
          <a:custGeom>
            <a:avLst/>
            <a:gdLst/>
            <a:ahLst/>
            <a:cxnLst/>
            <a:rect l="l" t="t" r="r" b="b"/>
            <a:pathLst>
              <a:path w="3119033" h="3970991">
                <a:moveTo>
                  <a:pt x="0" y="3970990"/>
                </a:moveTo>
                <a:lnTo>
                  <a:pt x="3119033" y="3970990"/>
                </a:lnTo>
                <a:lnTo>
                  <a:pt x="3119033" y="0"/>
                </a:lnTo>
                <a:lnTo>
                  <a:pt x="0" y="0"/>
                </a:lnTo>
                <a:lnTo>
                  <a:pt x="0" y="39709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2700000">
            <a:off x="8809570" y="989703"/>
            <a:ext cx="6961890" cy="1445179"/>
            <a:chOff x="0" y="0"/>
            <a:chExt cx="1833584" cy="3806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33584" cy="380623"/>
            </a:xfrm>
            <a:custGeom>
              <a:avLst/>
              <a:gdLst/>
              <a:ahLst/>
              <a:cxnLst/>
              <a:rect l="l" t="t" r="r" b="b"/>
              <a:pathLst>
                <a:path w="1833584" h="380623">
                  <a:moveTo>
                    <a:pt x="0" y="0"/>
                  </a:moveTo>
                  <a:lnTo>
                    <a:pt x="1833584" y="0"/>
                  </a:lnTo>
                  <a:lnTo>
                    <a:pt x="1833584" y="380623"/>
                  </a:lnTo>
                  <a:lnTo>
                    <a:pt x="0" y="380623"/>
                  </a:lnTo>
                  <a:close/>
                </a:path>
              </a:pathLst>
            </a:custGeom>
            <a:solidFill>
              <a:srgbClr val="033F6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833584" cy="352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4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1835653" y="2046952"/>
            <a:ext cx="6854420" cy="8726692"/>
          </a:xfrm>
          <a:custGeom>
            <a:avLst/>
            <a:gdLst/>
            <a:ahLst/>
            <a:cxnLst/>
            <a:rect l="l" t="t" r="r" b="b"/>
            <a:pathLst>
              <a:path w="6854420" h="8726692">
                <a:moveTo>
                  <a:pt x="6854420" y="0"/>
                </a:moveTo>
                <a:lnTo>
                  <a:pt x="0" y="0"/>
                </a:lnTo>
                <a:lnTo>
                  <a:pt x="0" y="8726692"/>
                </a:lnTo>
                <a:lnTo>
                  <a:pt x="6854420" y="8726692"/>
                </a:lnTo>
                <a:lnTo>
                  <a:pt x="68544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060374" y="458014"/>
            <a:ext cx="9075816" cy="907581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327847" y="725487"/>
            <a:ext cx="8540871" cy="854087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116650" y="8649333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073006"/>
            <a:ext cx="8663302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182233"/>
            <a:ext cx="8900600" cy="3785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HR attrition impacts organizational stability</a:t>
            </a:r>
          </a:p>
          <a:p>
            <a:pPr marL="457200" indent="-4572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Data-driven insights improve retention planning</a:t>
            </a:r>
          </a:p>
          <a:p>
            <a:pPr marL="457200" indent="-4572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Machine learning helps quantify risk factors</a:t>
            </a:r>
          </a:p>
        </p:txBody>
      </p:sp>
      <p:sp>
        <p:nvSpPr>
          <p:cNvPr id="4" name="Freeform 4"/>
          <p:cNvSpPr/>
          <p:nvPr/>
        </p:nvSpPr>
        <p:spPr>
          <a:xfrm flipV="1">
            <a:off x="-827410" y="-273202"/>
            <a:ext cx="3119033" cy="3970991"/>
          </a:xfrm>
          <a:custGeom>
            <a:avLst/>
            <a:gdLst/>
            <a:ahLst/>
            <a:cxnLst/>
            <a:rect l="l" t="t" r="r" b="b"/>
            <a:pathLst>
              <a:path w="3119033" h="3970991">
                <a:moveTo>
                  <a:pt x="0" y="3970990"/>
                </a:moveTo>
                <a:lnTo>
                  <a:pt x="3119033" y="3970990"/>
                </a:lnTo>
                <a:lnTo>
                  <a:pt x="3119033" y="0"/>
                </a:lnTo>
                <a:lnTo>
                  <a:pt x="0" y="0"/>
                </a:lnTo>
                <a:lnTo>
                  <a:pt x="0" y="39709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2700000">
            <a:off x="8809570" y="989703"/>
            <a:ext cx="6961890" cy="1445179"/>
            <a:chOff x="0" y="0"/>
            <a:chExt cx="1833584" cy="3806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33584" cy="380623"/>
            </a:xfrm>
            <a:custGeom>
              <a:avLst/>
              <a:gdLst/>
              <a:ahLst/>
              <a:cxnLst/>
              <a:rect l="l" t="t" r="r" b="b"/>
              <a:pathLst>
                <a:path w="1833584" h="380623">
                  <a:moveTo>
                    <a:pt x="0" y="0"/>
                  </a:moveTo>
                  <a:lnTo>
                    <a:pt x="1833584" y="0"/>
                  </a:lnTo>
                  <a:lnTo>
                    <a:pt x="1833584" y="380623"/>
                  </a:lnTo>
                  <a:lnTo>
                    <a:pt x="0" y="380623"/>
                  </a:lnTo>
                  <a:close/>
                </a:path>
              </a:pathLst>
            </a:custGeom>
            <a:solidFill>
              <a:srgbClr val="033F6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833584" cy="352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4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1835653" y="2046952"/>
            <a:ext cx="6854420" cy="8726692"/>
          </a:xfrm>
          <a:custGeom>
            <a:avLst/>
            <a:gdLst/>
            <a:ahLst/>
            <a:cxnLst/>
            <a:rect l="l" t="t" r="r" b="b"/>
            <a:pathLst>
              <a:path w="6854420" h="8726692">
                <a:moveTo>
                  <a:pt x="6854420" y="0"/>
                </a:moveTo>
                <a:lnTo>
                  <a:pt x="0" y="0"/>
                </a:lnTo>
                <a:lnTo>
                  <a:pt x="0" y="8726692"/>
                </a:lnTo>
                <a:lnTo>
                  <a:pt x="6854420" y="8726692"/>
                </a:lnTo>
                <a:lnTo>
                  <a:pt x="68544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060374" y="458014"/>
            <a:ext cx="9075816" cy="907581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327847" y="725487"/>
            <a:ext cx="8540871" cy="854087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t="-25046" b="-25046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116650" y="8649333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04369"/>
            <a:ext cx="5271863" cy="132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b="1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GOALS</a:t>
            </a:r>
          </a:p>
        </p:txBody>
      </p:sp>
      <p:sp>
        <p:nvSpPr>
          <p:cNvPr id="5" name="Freeform 5"/>
          <p:cNvSpPr/>
          <p:nvPr/>
        </p:nvSpPr>
        <p:spPr>
          <a:xfrm flipV="1">
            <a:off x="-827410" y="-273202"/>
            <a:ext cx="3119033" cy="3970991"/>
          </a:xfrm>
          <a:custGeom>
            <a:avLst/>
            <a:gdLst/>
            <a:ahLst/>
            <a:cxnLst/>
            <a:rect l="l" t="t" r="r" b="b"/>
            <a:pathLst>
              <a:path w="3119033" h="3970991">
                <a:moveTo>
                  <a:pt x="0" y="3970990"/>
                </a:moveTo>
                <a:lnTo>
                  <a:pt x="3119033" y="3970990"/>
                </a:lnTo>
                <a:lnTo>
                  <a:pt x="3119033" y="0"/>
                </a:lnTo>
                <a:lnTo>
                  <a:pt x="0" y="0"/>
                </a:lnTo>
                <a:lnTo>
                  <a:pt x="0" y="39709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2700000">
            <a:off x="8809570" y="989703"/>
            <a:ext cx="6961890" cy="1445179"/>
            <a:chOff x="0" y="0"/>
            <a:chExt cx="1833584" cy="3806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33584" cy="380623"/>
            </a:xfrm>
            <a:custGeom>
              <a:avLst/>
              <a:gdLst/>
              <a:ahLst/>
              <a:cxnLst/>
              <a:rect l="l" t="t" r="r" b="b"/>
              <a:pathLst>
                <a:path w="1833584" h="380623">
                  <a:moveTo>
                    <a:pt x="0" y="0"/>
                  </a:moveTo>
                  <a:lnTo>
                    <a:pt x="1833584" y="0"/>
                  </a:lnTo>
                  <a:lnTo>
                    <a:pt x="1833584" y="380623"/>
                  </a:lnTo>
                  <a:lnTo>
                    <a:pt x="0" y="380623"/>
                  </a:lnTo>
                  <a:close/>
                </a:path>
              </a:pathLst>
            </a:custGeom>
            <a:solidFill>
              <a:srgbClr val="033F6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833584" cy="352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1835653" y="2046952"/>
            <a:ext cx="6854420" cy="8726692"/>
          </a:xfrm>
          <a:custGeom>
            <a:avLst/>
            <a:gdLst/>
            <a:ahLst/>
            <a:cxnLst/>
            <a:rect l="l" t="t" r="r" b="b"/>
            <a:pathLst>
              <a:path w="6854420" h="8726692">
                <a:moveTo>
                  <a:pt x="6854420" y="0"/>
                </a:moveTo>
                <a:lnTo>
                  <a:pt x="0" y="0"/>
                </a:lnTo>
                <a:lnTo>
                  <a:pt x="0" y="8726692"/>
                </a:lnTo>
                <a:lnTo>
                  <a:pt x="6854420" y="8726692"/>
                </a:lnTo>
                <a:lnTo>
                  <a:pt x="68544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060374" y="458014"/>
            <a:ext cx="9075816" cy="907581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1327847" y="725487"/>
            <a:ext cx="8540871" cy="854087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116650" y="8649333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E9804032-E77F-10F8-BE51-CAEF199CCAD7}"/>
              </a:ext>
            </a:extLst>
          </p:cNvPr>
          <p:cNvSpPr txBox="1"/>
          <p:nvPr/>
        </p:nvSpPr>
        <p:spPr>
          <a:xfrm>
            <a:off x="1028700" y="3573839"/>
            <a:ext cx="8900600" cy="3139321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857250" indent="-857250">
              <a:spcBef>
                <a:spcPts val="1800"/>
              </a:spcBef>
              <a:spcAft>
                <a:spcPts val="1800"/>
              </a:spcAft>
              <a:buFont typeface="+mj-lt"/>
              <a:buAutoNum type="romanUcPeriod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Clean and preprocess dataset</a:t>
            </a:r>
          </a:p>
          <a:p>
            <a:pPr marL="857250" indent="-857250">
              <a:spcBef>
                <a:spcPts val="1800"/>
              </a:spcBef>
              <a:spcAft>
                <a:spcPts val="1800"/>
              </a:spcAft>
              <a:buFont typeface="+mj-lt"/>
              <a:buAutoNum type="romanUcPeriod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Build predictive model</a:t>
            </a:r>
          </a:p>
          <a:p>
            <a:pPr marL="857250" indent="-857250">
              <a:spcBef>
                <a:spcPts val="1800"/>
              </a:spcBef>
              <a:spcAft>
                <a:spcPts val="1800"/>
              </a:spcAft>
              <a:buFont typeface="+mj-lt"/>
              <a:buAutoNum type="romanUcPeriod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Interpret model outputs for business reasoning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41716" y="3975435"/>
            <a:ext cx="13004567" cy="406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Data Cleaning &amp; Feature Engineering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Handling Redundant Features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Encoding &amp; Scaling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Model Training (Logistic Regression, Random Forest)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Evaluation (Precision, Recall, F1)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59134" y="2567299"/>
            <a:ext cx="14369733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 b="1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</a:t>
            </a:r>
          </a:p>
        </p:txBody>
      </p:sp>
      <p:sp>
        <p:nvSpPr>
          <p:cNvPr id="4" name="Freeform 4"/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045C5-D0AA-F87E-7F9D-370C6751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0581E0F-7432-149B-1001-78CC13376040}"/>
              </a:ext>
            </a:extLst>
          </p:cNvPr>
          <p:cNvSpPr txBox="1"/>
          <p:nvPr/>
        </p:nvSpPr>
        <p:spPr>
          <a:xfrm>
            <a:off x="2641716" y="3975435"/>
            <a:ext cx="13004567" cy="4154984"/>
          </a:xfrm>
          <a:prstGeom prst="rect">
            <a:avLst/>
          </a:prstGeom>
        </p:spPr>
        <p:txBody>
          <a:bodyPr lIns="0" tIns="0" rIns="0" bIns="0" numCol="2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Python 3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Pandas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Kagglehub</a:t>
            </a: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Matplotlib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Seaborn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Sci-kit learn</a:t>
            </a:r>
          </a:p>
          <a:p>
            <a:pPr marL="1200150" lvl="1" indent="-742950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Models</a:t>
            </a:r>
          </a:p>
          <a:p>
            <a:pPr marL="1200150" lvl="1" indent="-742950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Data splitting</a:t>
            </a:r>
          </a:p>
          <a:p>
            <a:pPr marL="1200150" lvl="1" indent="-742950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Evaluation Metrics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CF7800F-3651-2C38-89DC-0EF233E3148D}"/>
              </a:ext>
            </a:extLst>
          </p:cNvPr>
          <p:cNvSpPr txBox="1"/>
          <p:nvPr/>
        </p:nvSpPr>
        <p:spPr>
          <a:xfrm>
            <a:off x="1959134" y="2567299"/>
            <a:ext cx="14369733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 &amp; LIBRARIES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7FEB599-56D8-DC4B-FA5F-AAE238F6F5AB}"/>
              </a:ext>
            </a:extLst>
          </p:cNvPr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F83B624-9E5A-BA0C-2F79-AD8CE5E79D70}"/>
              </a:ext>
            </a:extLst>
          </p:cNvPr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C881431-A670-77A5-9385-A0E0AEC493AD}"/>
              </a:ext>
            </a:extLst>
          </p:cNvPr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B9C5258-F4E5-FA67-4727-DD4C061AF751}"/>
              </a:ext>
            </a:extLst>
          </p:cNvPr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626358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A185A-2CA2-BA6F-DA8F-2D31A4AA3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1BD9D7C-EC26-C87E-3921-6D59CEB43E50}"/>
              </a:ext>
            </a:extLst>
          </p:cNvPr>
          <p:cNvSpPr txBox="1"/>
          <p:nvPr/>
        </p:nvSpPr>
        <p:spPr>
          <a:xfrm>
            <a:off x="2641716" y="4418843"/>
            <a:ext cx="13004567" cy="2399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ctr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Dataset contains employee-level HR data</a:t>
            </a:r>
          </a:p>
          <a:p>
            <a:pPr marL="514350" indent="-514350" algn="ctr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Target variable: Attrition (Yes/No)</a:t>
            </a:r>
          </a:p>
          <a:p>
            <a:pPr marL="514350" indent="-514350" algn="ctr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Mixed numerical and categorical features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9FAAC6C-3194-D234-5784-FD8327CF76AD}"/>
              </a:ext>
            </a:extLst>
          </p:cNvPr>
          <p:cNvSpPr txBox="1"/>
          <p:nvPr/>
        </p:nvSpPr>
        <p:spPr>
          <a:xfrm>
            <a:off x="1959134" y="2567299"/>
            <a:ext cx="14369733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88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UNDERSTANDING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9A890E8-D26E-7B22-68D2-DA5DE228C4DF}"/>
              </a:ext>
            </a:extLst>
          </p:cNvPr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B42EC0F-89DC-40FC-AE78-4783BC27FDF4}"/>
              </a:ext>
            </a:extLst>
          </p:cNvPr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BF25A11-67AF-5437-0D6C-8043B6AF296D}"/>
              </a:ext>
            </a:extLst>
          </p:cNvPr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9E1253E-8E6A-7633-993F-5A0EA5EDBB28}"/>
              </a:ext>
            </a:extLst>
          </p:cNvPr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833947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BC842-B398-5460-A0D1-3C32E1C0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C03EE11F-0313-67E5-50C8-6ED172996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803" y="3721996"/>
            <a:ext cx="6424314" cy="51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D6A2599E-B492-7984-60EF-BC22048F9DCD}"/>
              </a:ext>
            </a:extLst>
          </p:cNvPr>
          <p:cNvSpPr txBox="1"/>
          <p:nvPr/>
        </p:nvSpPr>
        <p:spPr>
          <a:xfrm>
            <a:off x="1959134" y="2567299"/>
            <a:ext cx="14369733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88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UNDERSTANDING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0A50DBF-02F3-A3C4-D47D-D04F25579610}"/>
              </a:ext>
            </a:extLst>
          </p:cNvPr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F2A89D5-293E-099F-2CEA-7025F1A00DD2}"/>
              </a:ext>
            </a:extLst>
          </p:cNvPr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3A5383A-4203-72C8-AFAE-3936D94A35B2}"/>
              </a:ext>
            </a:extLst>
          </p:cNvPr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06FB33A-6487-78CA-D23C-4EB53BC29409}"/>
              </a:ext>
            </a:extLst>
          </p:cNvPr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3BE96F4-5133-BC8C-22E7-62140498D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260" y="3721461"/>
            <a:ext cx="6526939" cy="5120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549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9E6E6-1C0F-55D4-73C0-14042E96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>
            <a:extLst>
              <a:ext uri="{FF2B5EF4-FFF2-40B4-BE49-F238E27FC236}">
                <a16:creationId xmlns:a16="http://schemas.microsoft.com/office/drawing/2014/main" id="{4BE6E34D-7684-377B-4AE7-E78C8588C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2212773"/>
            <a:ext cx="7588800" cy="614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2823126A-2AAF-9BA0-3D3E-DE439F074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842" y="2212773"/>
            <a:ext cx="7587683" cy="586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A8011A78-5ACA-A9FD-3645-6C3B52E77988}"/>
              </a:ext>
            </a:extLst>
          </p:cNvPr>
          <p:cNvSpPr txBox="1"/>
          <p:nvPr/>
        </p:nvSpPr>
        <p:spPr>
          <a:xfrm>
            <a:off x="1752600" y="788938"/>
            <a:ext cx="14369733" cy="115416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88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GRAPHS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51AB27A-7958-1766-73DC-817EA8C97C0D}"/>
              </a:ext>
            </a:extLst>
          </p:cNvPr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551379A-600B-C59B-69B9-922601537C44}"/>
              </a:ext>
            </a:extLst>
          </p:cNvPr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766E866-B0ED-0E4B-8EF7-058B423C41D3}"/>
              </a:ext>
            </a:extLst>
          </p:cNvPr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562354C-28A3-3485-24F7-5D8F8844A506}"/>
              </a:ext>
            </a:extLst>
          </p:cNvPr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86739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95BF2-D14E-6337-439F-B2DC0162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AB44C1B-76F1-C481-D41B-BA525E6CAE30}"/>
              </a:ext>
            </a:extLst>
          </p:cNvPr>
          <p:cNvSpPr txBox="1"/>
          <p:nvPr/>
        </p:nvSpPr>
        <p:spPr>
          <a:xfrm>
            <a:off x="1752600" y="788938"/>
            <a:ext cx="14369733" cy="115416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88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GRAPHS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0723DC0-2184-20CE-D80F-45528DCA45B7}"/>
              </a:ext>
            </a:extLst>
          </p:cNvPr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214EFA4-102E-88A9-6456-B92C4EE66B21}"/>
              </a:ext>
            </a:extLst>
          </p:cNvPr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1ACF98C-70D0-BF04-70A1-8C266FBFE79A}"/>
              </a:ext>
            </a:extLst>
          </p:cNvPr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7AB319E-8A85-83CE-1C84-AB09BD7376D4}"/>
              </a:ext>
            </a:extLst>
          </p:cNvPr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782E585-B164-C3E5-0F20-1C87E1408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751" y="2713216"/>
            <a:ext cx="6619875" cy="562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CC4FE62-2070-0631-C536-5ED6ED145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5376" y="2696476"/>
            <a:ext cx="5630400" cy="56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CD407BA-EB6E-6DCF-CB9D-418F228FD1F2}"/>
              </a:ext>
            </a:extLst>
          </p:cNvPr>
          <p:cNvSpPr/>
          <p:nvPr/>
        </p:nvSpPr>
        <p:spPr>
          <a:xfrm>
            <a:off x="8604757" y="4876398"/>
            <a:ext cx="1078487" cy="53420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14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90A72-B7FA-CB45-C18B-4432B306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B4646BC-425E-E832-AC5C-4B17A7556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23" y="2182862"/>
            <a:ext cx="14088553" cy="6319425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B8CF0DD0-C366-5662-8894-3972F9862CFE}"/>
              </a:ext>
            </a:extLst>
          </p:cNvPr>
          <p:cNvSpPr txBox="1"/>
          <p:nvPr/>
        </p:nvSpPr>
        <p:spPr>
          <a:xfrm>
            <a:off x="1752600" y="788938"/>
            <a:ext cx="14369733" cy="115416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88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 SCREENSHOTS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06DA8F1-415B-B511-6E7E-C1F893405ACB}"/>
              </a:ext>
            </a:extLst>
          </p:cNvPr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B09F7F7-1302-4211-7E2B-ECC88506DCA5}"/>
              </a:ext>
            </a:extLst>
          </p:cNvPr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516BC9B-6B8C-A3AF-6933-163A5CBD77E5}"/>
              </a:ext>
            </a:extLst>
          </p:cNvPr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4899933-5F83-333B-4D71-C4F13A101BB6}"/>
              </a:ext>
            </a:extLst>
          </p:cNvPr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18154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17711-25D2-0332-71E0-51E76639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FCF5EA9-299A-57AE-E837-953B61744DE4}"/>
              </a:ext>
            </a:extLst>
          </p:cNvPr>
          <p:cNvSpPr txBox="1"/>
          <p:nvPr/>
        </p:nvSpPr>
        <p:spPr>
          <a:xfrm>
            <a:off x="1752600" y="788938"/>
            <a:ext cx="14369733" cy="115416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88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 SCREENSHOTS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9152DDE-80A0-57CD-33B7-63A5A1D95BAB}"/>
              </a:ext>
            </a:extLst>
          </p:cNvPr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CB4275D-D4C1-4B34-3C6C-62A04EB58FC0}"/>
              </a:ext>
            </a:extLst>
          </p:cNvPr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4657714-FBBB-0BDB-A020-E2665B5F5262}"/>
              </a:ext>
            </a:extLst>
          </p:cNvPr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C93C819-D715-6BC6-D731-2BB6DE311ED2}"/>
              </a:ext>
            </a:extLst>
          </p:cNvPr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B5D4A1-BC9F-3CD8-68DB-8D66021F7B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8800" y="3096980"/>
            <a:ext cx="14090400" cy="433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39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F74A5-6594-CF5F-6E71-9D77C31F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23609BE-1DDA-C235-DB9C-D9C4D5C3658F}"/>
              </a:ext>
            </a:extLst>
          </p:cNvPr>
          <p:cNvSpPr txBox="1"/>
          <p:nvPr/>
        </p:nvSpPr>
        <p:spPr>
          <a:xfrm>
            <a:off x="1752600" y="788938"/>
            <a:ext cx="14369733" cy="115416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88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 SCREENSHOTS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741D791-5609-FD3B-7AB7-CAD449CD7252}"/>
              </a:ext>
            </a:extLst>
          </p:cNvPr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1D3A2E4-7D54-947E-0307-8B0D3178CD0A}"/>
              </a:ext>
            </a:extLst>
          </p:cNvPr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A31FC7A-FE88-432E-6979-0A3CDA1C4263}"/>
              </a:ext>
            </a:extLst>
          </p:cNvPr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CD80694-6E38-9810-B010-DC23521B8D75}"/>
              </a:ext>
            </a:extLst>
          </p:cNvPr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4E5030-5261-5B9D-ADEC-2C088B723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8800" y="3155064"/>
            <a:ext cx="14090400" cy="397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21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66171-A56C-28C1-64CD-CCF72E091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0A24F8-542B-5F2F-5A5C-58BA8F2F7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800" y="2320621"/>
            <a:ext cx="14090400" cy="5645757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F5AF310F-38A5-D4AC-D408-7A371066CB03}"/>
              </a:ext>
            </a:extLst>
          </p:cNvPr>
          <p:cNvSpPr txBox="1"/>
          <p:nvPr/>
        </p:nvSpPr>
        <p:spPr>
          <a:xfrm>
            <a:off x="1752600" y="788938"/>
            <a:ext cx="14369733" cy="115416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88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 SCREENSHOTS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92F6425-35B4-E2C8-C2C3-B91623F08438}"/>
              </a:ext>
            </a:extLst>
          </p:cNvPr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9D77F5A-9FDC-CE09-1B5B-08669B19BD44}"/>
              </a:ext>
            </a:extLst>
          </p:cNvPr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DCDC310-43ED-2059-2636-8A82223415C7}"/>
              </a:ext>
            </a:extLst>
          </p:cNvPr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8018677-2A29-D1C9-E56C-CA232F9469FD}"/>
              </a:ext>
            </a:extLst>
          </p:cNvPr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41990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979" y="1981393"/>
            <a:ext cx="6705433" cy="694435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699" y="3937943"/>
            <a:ext cx="8623043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Balanced precision and recall achieved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Focus placed on minority class detection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Key predictors identified through coefficient analysis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Model performance improved after removing redundant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74726"/>
            <a:ext cx="8115300" cy="132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9"/>
              </a:lnSpc>
              <a:spcBef>
                <a:spcPct val="0"/>
              </a:spcBef>
            </a:pPr>
            <a:r>
              <a:rPr lang="en-US" sz="9999" b="1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</p:txBody>
      </p:sp>
      <p:sp>
        <p:nvSpPr>
          <p:cNvPr id="5" name="Freeform 5"/>
          <p:cNvSpPr/>
          <p:nvPr/>
        </p:nvSpPr>
        <p:spPr>
          <a:xfrm flipV="1">
            <a:off x="-288351" y="-205820"/>
            <a:ext cx="2934411" cy="3735940"/>
          </a:xfrm>
          <a:custGeom>
            <a:avLst/>
            <a:gdLst/>
            <a:ahLst/>
            <a:cxnLst/>
            <a:rect l="l" t="t" r="r" b="b"/>
            <a:pathLst>
              <a:path w="2934411" h="3735940">
                <a:moveTo>
                  <a:pt x="0" y="3735940"/>
                </a:moveTo>
                <a:lnTo>
                  <a:pt x="2934412" y="3735940"/>
                </a:lnTo>
                <a:lnTo>
                  <a:pt x="2934412" y="0"/>
                </a:lnTo>
                <a:lnTo>
                  <a:pt x="0" y="0"/>
                </a:lnTo>
                <a:lnTo>
                  <a:pt x="0" y="373594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30454" y="4483182"/>
            <a:ext cx="14427091" cy="239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Logistic Regression provided interpretable results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Structured pipeline ensured reproducibility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Model insights support data-backed HR decisions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13346" y="2922037"/>
            <a:ext cx="12861308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b="1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3984" y="3253991"/>
            <a:ext cx="11960033" cy="3440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34"/>
              </a:lnSpc>
            </a:pPr>
            <a:r>
              <a:rPr lang="en-US" sz="13234" b="1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  <a:p>
            <a:pPr algn="ctr">
              <a:lnSpc>
                <a:spcPts val="13234"/>
              </a:lnSpc>
              <a:spcBef>
                <a:spcPct val="0"/>
              </a:spcBef>
            </a:pPr>
            <a:r>
              <a:rPr lang="en-US" sz="13234" b="1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 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220</Words>
  <Application>Microsoft Office PowerPoint</Application>
  <PresentationFormat>Custom</PresentationFormat>
  <Paragraphs>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Montserrat Bold</vt:lpstr>
      <vt:lpstr>Wingdings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Illustrative Group Project Presentation</dc:title>
  <dc:creator>RajKamalDas</dc:creator>
  <cp:lastModifiedBy>Rajkamal Das</cp:lastModifiedBy>
  <cp:revision>3</cp:revision>
  <dcterms:created xsi:type="dcterms:W3CDTF">2006-08-16T00:00:00Z</dcterms:created>
  <dcterms:modified xsi:type="dcterms:W3CDTF">2026-03-01T12:12:56Z</dcterms:modified>
  <dc:identifier>DAHCs7iDr1k</dc:identifier>
</cp:coreProperties>
</file>