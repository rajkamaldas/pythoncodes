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58" r:id="rId6"/>
    <p:sldId id="267" r:id="rId7"/>
    <p:sldId id="264" r:id="rId8"/>
    <p:sldId id="268" r:id="rId9"/>
    <p:sldId id="270" r:id="rId10"/>
    <p:sldId id="271" r:id="rId11"/>
    <p:sldId id="272" r:id="rId12"/>
    <p:sldId id="263" r:id="rId13"/>
    <p:sldId id="269" r:id="rId14"/>
    <p:sldId id="265" r:id="rId15"/>
    <p:sldId id="266" r:id="rId16"/>
  </p:sldIdLst>
  <p:sldSz cx="18288000" cy="10287000"/>
  <p:notesSz cx="6858000" cy="9144000"/>
  <p:embeddedFontLst>
    <p:embeddedFont>
      <p:font typeface="Montserrat Bold" panose="020B0604020202020204" charset="0"/>
      <p:regular r:id="rId17"/>
    </p:embeddedFont>
    <p:embeddedFont>
      <p:font typeface="Montserrat Light" panose="020B0604020202020204" charset="0"/>
      <p:regular r:id="rId18"/>
    </p:embeddedFont>
    <p:embeddedFont>
      <p:font typeface="Wingdings 2" panose="05020102010507070707" pitchFamily="18" charset="2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60"/>
      </p:cViewPr>
      <p:guideLst>
        <p:guide orient="horz" pos="2160"/>
        <p:guide pos="321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288351" y="-696459"/>
            <a:ext cx="4309648" cy="5486820"/>
          </a:xfrm>
          <a:custGeom>
            <a:avLst/>
            <a:gdLst/>
            <a:ahLst/>
            <a:cxnLst/>
            <a:rect l="l" t="t" r="r" b="b"/>
            <a:pathLst>
              <a:path w="4309648" h="5486820">
                <a:moveTo>
                  <a:pt x="0" y="5486821"/>
                </a:moveTo>
                <a:lnTo>
                  <a:pt x="4309648" y="5486821"/>
                </a:lnTo>
                <a:lnTo>
                  <a:pt x="4309648" y="0"/>
                </a:lnTo>
                <a:lnTo>
                  <a:pt x="0" y="0"/>
                </a:lnTo>
                <a:lnTo>
                  <a:pt x="0" y="548682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87047" y="5356615"/>
            <a:ext cx="9075816" cy="907581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3F63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6454519" y="5624087"/>
            <a:ext cx="8540871" cy="854087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16666" r="-16666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33F63"/>
            </a:solidFill>
          </p:spPr>
        </p:sp>
      </p:grpSp>
      <p:sp>
        <p:nvSpPr>
          <p:cNvPr id="9" name="Freeform 9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5"/>
              <a:stretch>
                <a:fillRect t="-12500" b="-12500"/>
              </a:stretch>
            </a:blipFill>
          </p:spPr>
        </p:sp>
      </p:grpSp>
      <p:sp>
        <p:nvSpPr>
          <p:cNvPr id="12" name="Freeform 12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265183" y="2993875"/>
            <a:ext cx="8868252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lang="en-US" sz="80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ELIBRARY</a:t>
            </a:r>
          </a:p>
          <a:p>
            <a:pPr algn="l"/>
            <a:r>
              <a:rPr lang="en-US" sz="80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PROJECT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5183" y="6540916"/>
            <a:ext cx="8115300" cy="2935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65"/>
              </a:lnSpc>
            </a:pPr>
            <a:r>
              <a:rPr lang="en-US" sz="2615" b="1" spc="473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PRESENTED BY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73006"/>
            <a:ext cx="866330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PROBLEM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182233"/>
            <a:ext cx="8900600" cy="393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 noticed:</a:t>
            </a:r>
          </a:p>
          <a:p>
            <a:endParaRPr lang="en-US" sz="3200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Managing physical book records leads to inefficiencies, delayed access, and lack of transparency.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Students struggle to track availability.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Administrators struggle to maintain accuracy.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-827410" y="-273202"/>
            <a:ext cx="3119033" cy="3970991"/>
          </a:xfrm>
          <a:custGeom>
            <a:avLst/>
            <a:gdLst/>
            <a:ahLst/>
            <a:cxnLst/>
            <a:rect l="l" t="t" r="r" b="b"/>
            <a:pathLst>
              <a:path w="3119033" h="3970991">
                <a:moveTo>
                  <a:pt x="0" y="3970990"/>
                </a:moveTo>
                <a:lnTo>
                  <a:pt x="3119033" y="3970990"/>
                </a:lnTo>
                <a:lnTo>
                  <a:pt x="3119033" y="0"/>
                </a:lnTo>
                <a:lnTo>
                  <a:pt x="0" y="0"/>
                </a:lnTo>
                <a:lnTo>
                  <a:pt x="0" y="39709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2700000">
            <a:off x="8809570" y="989703"/>
            <a:ext cx="6961890" cy="1445179"/>
            <a:chOff x="0" y="0"/>
            <a:chExt cx="1833584" cy="3806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3584" cy="380623"/>
            </a:xfrm>
            <a:custGeom>
              <a:avLst/>
              <a:gdLst/>
              <a:ahLst/>
              <a:cxnLst/>
              <a:rect l="l" t="t" r="r" b="b"/>
              <a:pathLst>
                <a:path w="1833584" h="380623">
                  <a:moveTo>
                    <a:pt x="0" y="0"/>
                  </a:moveTo>
                  <a:lnTo>
                    <a:pt x="1833584" y="0"/>
                  </a:lnTo>
                  <a:lnTo>
                    <a:pt x="1833584" y="380623"/>
                  </a:lnTo>
                  <a:lnTo>
                    <a:pt x="0" y="380623"/>
                  </a:lnTo>
                  <a:close/>
                </a:path>
              </a:pathLst>
            </a:custGeom>
            <a:solidFill>
              <a:srgbClr val="033F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833584" cy="352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t="-25046" b="-25046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strip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/>
          <p:nvPr/>
        </p:nvSpPr>
        <p:spPr>
          <a:xfrm flipV="1">
            <a:off x="-827410" y="-273202"/>
            <a:ext cx="3119033" cy="3970991"/>
          </a:xfrm>
          <a:custGeom>
            <a:avLst/>
            <a:gdLst/>
            <a:ahLst/>
            <a:cxnLst/>
            <a:rect l="l" t="t" r="r" b="b"/>
            <a:pathLst>
              <a:path w="3119033" h="3970991">
                <a:moveTo>
                  <a:pt x="0" y="3970990"/>
                </a:moveTo>
                <a:lnTo>
                  <a:pt x="3119033" y="3970990"/>
                </a:lnTo>
                <a:lnTo>
                  <a:pt x="3119033" y="0"/>
                </a:lnTo>
                <a:lnTo>
                  <a:pt x="0" y="0"/>
                </a:lnTo>
                <a:lnTo>
                  <a:pt x="0" y="39709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2700000">
            <a:off x="8809570" y="989703"/>
            <a:ext cx="6961890" cy="1445179"/>
            <a:chOff x="0" y="0"/>
            <a:chExt cx="1833584" cy="38062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33584" cy="380623"/>
            </a:xfrm>
            <a:custGeom>
              <a:avLst/>
              <a:gdLst/>
              <a:ahLst/>
              <a:cxnLst/>
              <a:rect l="l" t="t" r="r" b="b"/>
              <a:pathLst>
                <a:path w="1833584" h="380623">
                  <a:moveTo>
                    <a:pt x="0" y="0"/>
                  </a:moveTo>
                  <a:lnTo>
                    <a:pt x="1833584" y="0"/>
                  </a:lnTo>
                  <a:lnTo>
                    <a:pt x="1833584" y="380623"/>
                  </a:lnTo>
                  <a:lnTo>
                    <a:pt x="0" y="380623"/>
                  </a:lnTo>
                  <a:close/>
                </a:path>
              </a:pathLst>
            </a:custGeom>
            <a:solidFill>
              <a:srgbClr val="033F6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28575"/>
              <a:ext cx="1833584" cy="352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4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1CE92147-BAC9-1BB0-F747-129DEC315A56}"/>
              </a:ext>
            </a:extLst>
          </p:cNvPr>
          <p:cNvSpPr txBox="1"/>
          <p:nvPr/>
        </p:nvSpPr>
        <p:spPr>
          <a:xfrm>
            <a:off x="1028700" y="3182233"/>
            <a:ext cx="8900600" cy="344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So, </a:t>
            </a:r>
            <a:r>
              <a:rPr lang="en-IN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through analysis we landed on the following issues:</a:t>
            </a:r>
            <a:endParaRPr lang="en-US" sz="3200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endParaRPr lang="en-US" sz="3200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Manual record dependency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real-time availability tracking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Risk of human error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Poor accessibility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B0B6DD-29B4-C489-604D-5C8568235BDA}"/>
              </a:ext>
            </a:extLst>
          </p:cNvPr>
          <p:cNvSpPr txBox="1"/>
          <p:nvPr/>
        </p:nvSpPr>
        <p:spPr>
          <a:xfrm>
            <a:off x="1028700" y="2073006"/>
            <a:ext cx="8663302" cy="8463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BREAKDOWN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1714" y="3844291"/>
            <a:ext cx="13004567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 answer the following question:</a:t>
            </a:r>
          </a:p>
          <a:p>
            <a:endParaRPr lang="en-US" sz="4000" b="1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algn="ctr"/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What if a centralized digital system could manage records, user roles, and book access efficiently — while remaining lightweight and scalable?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959132" y="1839939"/>
            <a:ext cx="14369733" cy="1093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We Solve It: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strips dir="r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883743"/>
            <a:ext cx="8115300" cy="1093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72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ABSTRACT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3541232"/>
            <a:ext cx="9486640" cy="3647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lightweight, web-based </a:t>
            </a:r>
            <a:r>
              <a:rPr lang="en-US" sz="3200" dirty="0" err="1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eLibrary</a:t>
            </a: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system designed for efficiency and clarity.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Flask for structured backend logic.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SQLite for reliable data handling.</a:t>
            </a:r>
          </a:p>
          <a:p>
            <a:pPr marL="457200" indent="-457200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Role-based access for administrators and users.</a:t>
            </a:r>
          </a:p>
        </p:txBody>
      </p:sp>
      <p:sp>
        <p:nvSpPr>
          <p:cNvPr id="4" name="Freeform 4"/>
          <p:cNvSpPr/>
          <p:nvPr/>
        </p:nvSpPr>
        <p:spPr>
          <a:xfrm flipV="1">
            <a:off x="-827410" y="-273202"/>
            <a:ext cx="3119033" cy="3970991"/>
          </a:xfrm>
          <a:custGeom>
            <a:avLst/>
            <a:gdLst/>
            <a:ahLst/>
            <a:cxnLst/>
            <a:rect l="l" t="t" r="r" b="b"/>
            <a:pathLst>
              <a:path w="3119033" h="3970991">
                <a:moveTo>
                  <a:pt x="0" y="3970990"/>
                </a:moveTo>
                <a:lnTo>
                  <a:pt x="3119033" y="3970990"/>
                </a:lnTo>
                <a:lnTo>
                  <a:pt x="3119033" y="0"/>
                </a:lnTo>
                <a:lnTo>
                  <a:pt x="0" y="0"/>
                </a:lnTo>
                <a:lnTo>
                  <a:pt x="0" y="397099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 rot="2700000">
            <a:off x="8809570" y="989703"/>
            <a:ext cx="6961890" cy="1445179"/>
            <a:chOff x="0" y="0"/>
            <a:chExt cx="1833584" cy="3806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33584" cy="380623"/>
            </a:xfrm>
            <a:custGeom>
              <a:avLst/>
              <a:gdLst/>
              <a:ahLst/>
              <a:cxnLst/>
              <a:rect l="l" t="t" r="r" b="b"/>
              <a:pathLst>
                <a:path w="1833584" h="380623">
                  <a:moveTo>
                    <a:pt x="0" y="0"/>
                  </a:moveTo>
                  <a:lnTo>
                    <a:pt x="1833584" y="0"/>
                  </a:lnTo>
                  <a:lnTo>
                    <a:pt x="1833584" y="380623"/>
                  </a:lnTo>
                  <a:lnTo>
                    <a:pt x="0" y="380623"/>
                  </a:lnTo>
                  <a:close/>
                </a:path>
              </a:pathLst>
            </a:custGeom>
            <a:solidFill>
              <a:srgbClr val="033F6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28575"/>
              <a:ext cx="1833584" cy="3520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34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11835653" y="2046952"/>
            <a:ext cx="6854420" cy="8726692"/>
          </a:xfrm>
          <a:custGeom>
            <a:avLst/>
            <a:gdLst/>
            <a:ahLst/>
            <a:cxnLst/>
            <a:rect l="l" t="t" r="r" b="b"/>
            <a:pathLst>
              <a:path w="6854420" h="8726692">
                <a:moveTo>
                  <a:pt x="6854420" y="0"/>
                </a:moveTo>
                <a:lnTo>
                  <a:pt x="0" y="0"/>
                </a:lnTo>
                <a:lnTo>
                  <a:pt x="0" y="8726692"/>
                </a:lnTo>
                <a:lnTo>
                  <a:pt x="6854420" y="8726692"/>
                </a:lnTo>
                <a:lnTo>
                  <a:pt x="685442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11060374" y="458014"/>
            <a:ext cx="9075816" cy="907581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DFDFD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1327847" y="725487"/>
            <a:ext cx="8540871" cy="85408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25046" r="-25046"/>
              </a:stretch>
            </a:blipFill>
          </p:spPr>
        </p:sp>
      </p:grpSp>
      <p:sp>
        <p:nvSpPr>
          <p:cNvPr id="13" name="Freeform 13"/>
          <p:cNvSpPr/>
          <p:nvPr/>
        </p:nvSpPr>
        <p:spPr>
          <a:xfrm>
            <a:off x="1116650" y="8649333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52FC6-D728-593D-E0FC-74890ABB0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2582F6CB-4F99-FBCE-868A-E74C36BBC563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A3E9CCA-4BA9-B661-3AF0-5E70336920D0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4394F76A-EB86-1707-0D51-A69ABDCB377D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93004B7-F3ED-711E-8630-A0BFD2A1D721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CD3E8A55-2167-D0D4-0688-37059D0ED63D}"/>
              </a:ext>
            </a:extLst>
          </p:cNvPr>
          <p:cNvSpPr txBox="1"/>
          <p:nvPr/>
        </p:nvSpPr>
        <p:spPr>
          <a:xfrm>
            <a:off x="1959132" y="1839939"/>
            <a:ext cx="14369733" cy="107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Requirements: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CE514690-2C69-4FCB-AEA1-85F759FBA4B1}"/>
              </a:ext>
            </a:extLst>
          </p:cNvPr>
          <p:cNvSpPr txBox="1"/>
          <p:nvPr/>
        </p:nvSpPr>
        <p:spPr>
          <a:xfrm>
            <a:off x="2641714" y="3844291"/>
            <a:ext cx="13004567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Role-based login system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SQLite-powered database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Structured backend with Flask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Organized PDF storage</a:t>
            </a:r>
          </a:p>
          <a:p>
            <a:pPr marL="571500" indent="-571500">
              <a:buFont typeface="Wingdings" panose="05000000000000000000" pitchFamily="2" charset="2"/>
              <a:buChar char="ü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  Admin-level controls</a:t>
            </a:r>
          </a:p>
        </p:txBody>
      </p:sp>
    </p:spTree>
    <p:extLst>
      <p:ext uri="{BB962C8B-B14F-4D97-AF65-F5344CB8AC3E}">
        <p14:creationId xmlns:p14="http://schemas.microsoft.com/office/powerpoint/2010/main" val="2081993314"/>
      </p:ext>
    </p:extLst>
  </p:cSld>
  <p:clrMapOvr>
    <a:masterClrMapping/>
  </p:clrMapOvr>
  <p:transition spd="slow">
    <p:strips dir="r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6159FE6-7F6E-EE1E-5D86-70DD531C578A}"/>
              </a:ext>
            </a:extLst>
          </p:cNvPr>
          <p:cNvGrpSpPr/>
          <p:nvPr/>
        </p:nvGrpSpPr>
        <p:grpSpPr>
          <a:xfrm>
            <a:off x="2754074" y="3957636"/>
            <a:ext cx="11190526" cy="4157664"/>
            <a:chOff x="3548737" y="4484294"/>
            <a:chExt cx="11190526" cy="415766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9B405861-88EA-B7D9-8639-DBF7FD831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405" t="38765" r="25875" b="-439"/>
            <a:stretch/>
          </p:blipFill>
          <p:spPr>
            <a:xfrm rot="10800000">
              <a:off x="9535651" y="4484294"/>
              <a:ext cx="2318663" cy="2564205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6BBCECD-39E3-280C-E955-C68A3FBC74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0158"/>
            <a:stretch/>
          </p:blipFill>
          <p:spPr>
            <a:xfrm>
              <a:off x="3548737" y="6153953"/>
              <a:ext cx="11190526" cy="2488005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19EFCA4-B938-99A0-32C6-CC20AF3E29A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3500" t="79860" b="457"/>
            <a:stretch/>
          </p:blipFill>
          <p:spPr>
            <a:xfrm>
              <a:off x="9525000" y="4484294"/>
              <a:ext cx="5203612" cy="818347"/>
            </a:xfrm>
            <a:prstGeom prst="rect">
              <a:avLst/>
            </a:prstGeom>
          </p:spPr>
        </p:pic>
      </p:grpSp>
      <p:sp>
        <p:nvSpPr>
          <p:cNvPr id="10" name="TextBox 3">
            <a:extLst>
              <a:ext uri="{FF2B5EF4-FFF2-40B4-BE49-F238E27FC236}">
                <a16:creationId xmlns:a16="http://schemas.microsoft.com/office/drawing/2014/main" id="{0A47D358-2D3D-7735-E34B-3400BD390E00}"/>
              </a:ext>
            </a:extLst>
          </p:cNvPr>
          <p:cNvSpPr txBox="1"/>
          <p:nvPr/>
        </p:nvSpPr>
        <p:spPr>
          <a:xfrm>
            <a:off x="1959132" y="1839939"/>
            <a:ext cx="14369733" cy="107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Users Move &amp; Navigate: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7B12F-F8EC-DF9C-2DF0-32A1BBE34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2F81EC5-0DB0-F20C-9156-3D8563D3C8A2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101892A-EC46-DEA1-2129-1C39D6E3DB28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4798B09-31B2-93B8-4F6F-819F80BBE814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4B89214-6123-39CA-F5F1-D4F7E3B47045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2">
            <a:extLst>
              <a:ext uri="{FF2B5EF4-FFF2-40B4-BE49-F238E27FC236}">
                <a16:creationId xmlns:a16="http://schemas.microsoft.com/office/drawing/2014/main" id="{3A9CCE87-F098-D715-9955-DB375EB10696}"/>
              </a:ext>
            </a:extLst>
          </p:cNvPr>
          <p:cNvSpPr txBox="1"/>
          <p:nvPr/>
        </p:nvSpPr>
        <p:spPr>
          <a:xfrm>
            <a:off x="2667000" y="3812381"/>
            <a:ext cx="13004567" cy="4308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We </a:t>
            </a: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didn’t want boring black &amp; white. Instead we have: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endParaRPr lang="en-IN" sz="4000" b="1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Futuristic Gradient.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Stylised Buttons.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Easy on the eye </a:t>
            </a: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colours.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Clean design.</a:t>
            </a:r>
            <a:endParaRPr lang="en-US" sz="4000" b="1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A00856C-B110-F40F-48E8-EDC4E11748E6}"/>
              </a:ext>
            </a:extLst>
          </p:cNvPr>
          <p:cNvSpPr txBox="1"/>
          <p:nvPr/>
        </p:nvSpPr>
        <p:spPr>
          <a:xfrm>
            <a:off x="1959132" y="1839939"/>
            <a:ext cx="14369733" cy="107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How We Designed Our Pages:</a:t>
            </a:r>
          </a:p>
        </p:txBody>
      </p:sp>
    </p:spTree>
    <p:extLst>
      <p:ext uri="{BB962C8B-B14F-4D97-AF65-F5344CB8AC3E}">
        <p14:creationId xmlns:p14="http://schemas.microsoft.com/office/powerpoint/2010/main" val="4115786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58C301-074A-08D1-DEFD-84EB6181F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08857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10E61A-CEA2-7149-BEA6-0A30C4FDE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885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02EA3B-22BA-9F76-FAD1-C67E5AEDE9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45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979" y="1981393"/>
            <a:ext cx="6705433" cy="694435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3937943"/>
            <a:ext cx="8115300" cy="3570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spcAft>
                <a:spcPts val="2400"/>
              </a:spcAft>
              <a:buFont typeface="Wingdings 2" panose="05020102010507070707" pitchFamily="18" charset="2"/>
              <a:buChar char="R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system that is more than a digital repository.</a:t>
            </a:r>
          </a:p>
          <a:p>
            <a:pPr marL="457200" indent="-457200">
              <a:spcAft>
                <a:spcPts val="2400"/>
              </a:spcAft>
              <a:buFont typeface="Wingdings 2" panose="05020102010507070707" pitchFamily="18" charset="2"/>
              <a:buChar char="R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A step toward structured, scalable knowledge management.</a:t>
            </a:r>
          </a:p>
          <a:p>
            <a:pPr marL="457200" indent="-457200">
              <a:spcAft>
                <a:spcPts val="2400"/>
              </a:spcAft>
              <a:buFont typeface="Wingdings 2" panose="05020102010507070707" pitchFamily="18" charset="2"/>
              <a:buChar char="R"/>
            </a:pPr>
            <a:r>
              <a:rPr lang="en-US" sz="3200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Designed for simplicity today and adaptability tomorrow.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81393"/>
            <a:ext cx="8435279" cy="12152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999"/>
              </a:lnSpc>
              <a:spcBef>
                <a:spcPct val="0"/>
              </a:spcBef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RESULT:</a:t>
            </a:r>
          </a:p>
        </p:txBody>
      </p:sp>
      <p:sp>
        <p:nvSpPr>
          <p:cNvPr id="5" name="Freeform 5"/>
          <p:cNvSpPr/>
          <p:nvPr/>
        </p:nvSpPr>
        <p:spPr>
          <a:xfrm flipV="1">
            <a:off x="-288351" y="-205820"/>
            <a:ext cx="2934411" cy="3735940"/>
          </a:xfrm>
          <a:custGeom>
            <a:avLst/>
            <a:gdLst/>
            <a:ahLst/>
            <a:cxnLst/>
            <a:rect l="l" t="t" r="r" b="b"/>
            <a:pathLst>
              <a:path w="2934411" h="3735940">
                <a:moveTo>
                  <a:pt x="0" y="3735940"/>
                </a:moveTo>
                <a:lnTo>
                  <a:pt x="2934412" y="3735940"/>
                </a:lnTo>
                <a:lnTo>
                  <a:pt x="2934412" y="0"/>
                </a:lnTo>
                <a:lnTo>
                  <a:pt x="0" y="0"/>
                </a:lnTo>
                <a:lnTo>
                  <a:pt x="0" y="37359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7C09F4-C830-1FB8-9577-6397508A5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>
            <a:extLst>
              <a:ext uri="{FF2B5EF4-FFF2-40B4-BE49-F238E27FC236}">
                <a16:creationId xmlns:a16="http://schemas.microsoft.com/office/drawing/2014/main" id="{C3E2481B-C3DF-ED73-E7B1-57A517659D8F}"/>
              </a:ext>
            </a:extLst>
          </p:cNvPr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8783397-947B-0B58-3F75-B5D059C28DF7}"/>
              </a:ext>
            </a:extLst>
          </p:cNvPr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E245327-9473-5252-E500-3D1CDBD1C295}"/>
              </a:ext>
            </a:extLst>
          </p:cNvPr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C305A2-4DC9-5AB9-1180-22CDFDF1ED14}"/>
              </a:ext>
            </a:extLst>
          </p:cNvPr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21A85AB8-2665-F74A-389D-45437CED24FF}"/>
              </a:ext>
            </a:extLst>
          </p:cNvPr>
          <p:cNvSpPr txBox="1"/>
          <p:nvPr/>
        </p:nvSpPr>
        <p:spPr>
          <a:xfrm>
            <a:off x="1959132" y="1839939"/>
            <a:ext cx="14369733" cy="1074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lang="en-US" sz="66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Plans For 2.0</a:t>
            </a:r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976BFF49-7D53-A172-8587-401653EE58BA}"/>
              </a:ext>
            </a:extLst>
          </p:cNvPr>
          <p:cNvSpPr txBox="1"/>
          <p:nvPr/>
        </p:nvSpPr>
        <p:spPr>
          <a:xfrm>
            <a:off x="2667000" y="3812381"/>
            <a:ext cx="13004567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The coming versions promise:</a:t>
            </a:r>
            <a:endParaRPr lang="en-IN" sz="4000" b="1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Better UX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Higher </a:t>
            </a: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Security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More supported files</a:t>
            </a:r>
          </a:p>
          <a:p>
            <a:pPr marL="1028700" lvl="1" indent="-571500">
              <a:buFont typeface="Wingdings" panose="05000000000000000000" pitchFamily="2" charset="2"/>
              <a:buChar char="Ø"/>
            </a:pPr>
            <a:r>
              <a:rPr lang="en-IN" sz="4000" b="1" i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Subscriptions</a:t>
            </a:r>
            <a:r>
              <a:rPr lang="en-IN" sz="4000" b="1" dirty="0">
                <a:solidFill>
                  <a:srgbClr val="1B75BC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…</a:t>
            </a:r>
            <a:endParaRPr lang="en-US" sz="4000" b="1" dirty="0">
              <a:solidFill>
                <a:srgbClr val="1B75BC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</p:spTree>
    <p:extLst>
      <p:ext uri="{BB962C8B-B14F-4D97-AF65-F5344CB8AC3E}">
        <p14:creationId xmlns:p14="http://schemas.microsoft.com/office/powerpoint/2010/main" val="1359137932"/>
      </p:ext>
    </p:extLst>
  </p:cSld>
  <p:clrMapOvr>
    <a:masterClrMapping/>
  </p:clrMapOvr>
  <p:transition spd="slow">
    <p:strips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414195" y="3886759"/>
            <a:ext cx="15459611" cy="207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000"/>
              </a:lnSpc>
            </a:pPr>
            <a:r>
              <a:rPr lang="en-US" sz="80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DOES ANYONE</a:t>
            </a:r>
          </a:p>
          <a:p>
            <a:pPr algn="ctr">
              <a:lnSpc>
                <a:spcPts val="8000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have questions?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63984" y="3253991"/>
            <a:ext cx="11960033" cy="34404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34"/>
              </a:lnSpc>
            </a:pPr>
            <a:r>
              <a:rPr lang="en-US" sz="13234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</a:t>
            </a:r>
          </a:p>
          <a:p>
            <a:pPr algn="ctr">
              <a:lnSpc>
                <a:spcPts val="13234"/>
              </a:lnSpc>
              <a:spcBef>
                <a:spcPct val="0"/>
              </a:spcBef>
            </a:pPr>
            <a:r>
              <a:rPr lang="en-US" sz="13234" b="1" dirty="0">
                <a:solidFill>
                  <a:srgbClr val="1B7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 </a:t>
            </a:r>
          </a:p>
        </p:txBody>
      </p:sp>
      <p:sp>
        <p:nvSpPr>
          <p:cNvPr id="3" name="Freeform 3"/>
          <p:cNvSpPr/>
          <p:nvPr/>
        </p:nvSpPr>
        <p:spPr>
          <a:xfrm flipV="1">
            <a:off x="-288351" y="-205820"/>
            <a:ext cx="3722204" cy="4738916"/>
          </a:xfrm>
          <a:custGeom>
            <a:avLst/>
            <a:gdLst/>
            <a:ahLst/>
            <a:cxnLst/>
            <a:rect l="l" t="t" r="r" b="b"/>
            <a:pathLst>
              <a:path w="3722204" h="4738916">
                <a:moveTo>
                  <a:pt x="0" y="4738916"/>
                </a:moveTo>
                <a:lnTo>
                  <a:pt x="3722204" y="4738916"/>
                </a:lnTo>
                <a:lnTo>
                  <a:pt x="3722204" y="0"/>
                </a:lnTo>
                <a:lnTo>
                  <a:pt x="0" y="0"/>
                </a:lnTo>
                <a:lnTo>
                  <a:pt x="0" y="47389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4364277" y="5266265"/>
            <a:ext cx="4325796" cy="5507379"/>
          </a:xfrm>
          <a:custGeom>
            <a:avLst/>
            <a:gdLst/>
            <a:ahLst/>
            <a:cxnLst/>
            <a:rect l="l" t="t" r="r" b="b"/>
            <a:pathLst>
              <a:path w="4325796" h="5507379">
                <a:moveTo>
                  <a:pt x="4325796" y="0"/>
                </a:moveTo>
                <a:lnTo>
                  <a:pt x="0" y="0"/>
                </a:lnTo>
                <a:lnTo>
                  <a:pt x="0" y="5507379"/>
                </a:lnTo>
                <a:lnTo>
                  <a:pt x="4325796" y="5507379"/>
                </a:lnTo>
                <a:lnTo>
                  <a:pt x="432579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28700" y="8838016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454177" y="1028700"/>
            <a:ext cx="1805123" cy="617024"/>
          </a:xfrm>
          <a:custGeom>
            <a:avLst/>
            <a:gdLst/>
            <a:ahLst/>
            <a:cxnLst/>
            <a:rect l="l" t="t" r="r" b="b"/>
            <a:pathLst>
              <a:path w="1805123" h="617024">
                <a:moveTo>
                  <a:pt x="0" y="0"/>
                </a:moveTo>
                <a:lnTo>
                  <a:pt x="1805123" y="0"/>
                </a:lnTo>
                <a:lnTo>
                  <a:pt x="1805123" y="617024"/>
                </a:lnTo>
                <a:lnTo>
                  <a:pt x="0" y="6170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247</Words>
  <Application>Microsoft Office PowerPoint</Application>
  <PresentationFormat>Custom</PresentationFormat>
  <Paragraphs>53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Wingdings 2</vt:lpstr>
      <vt:lpstr>Montserrat Bold</vt:lpstr>
      <vt:lpstr>Montserrat Light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Illustrative Group Project Presentation</dc:title>
  <dc:creator>RajKamalDas</dc:creator>
  <cp:lastModifiedBy>Rajkamal Das</cp:lastModifiedBy>
  <cp:revision>3</cp:revision>
  <dcterms:created xsi:type="dcterms:W3CDTF">2006-08-16T00:00:00Z</dcterms:created>
  <dcterms:modified xsi:type="dcterms:W3CDTF">2026-02-22T07:50:56Z</dcterms:modified>
  <dc:identifier>DAHBfk2_g7Y</dc:identifier>
</cp:coreProperties>
</file>